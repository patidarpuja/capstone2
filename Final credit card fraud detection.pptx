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sldIdLst>
    <p:sldId id="258" r:id="rId2"/>
    <p:sldId id="261" r:id="rId3"/>
    <p:sldId id="262" r:id="rId4"/>
    <p:sldId id="264" r:id="rId5"/>
    <p:sldId id="265" r:id="rId6"/>
    <p:sldId id="268" r:id="rId7"/>
    <p:sldId id="266" r:id="rId8"/>
    <p:sldId id="260" r:id="rId9"/>
    <p:sldId id="267" r:id="rId10"/>
    <p:sldId id="269" r:id="rId11"/>
    <p:sldId id="270" r:id="rId12"/>
    <p:sldId id="27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9DD1"/>
    <a:srgbClr val="07162A"/>
    <a:srgbClr val="CB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C236A-791E-4C61-92FE-03940D7E3B1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D226F-EC82-4FFC-895B-5DCAE41B1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82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D226F-EC82-4FFC-895B-5DCAE41B10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968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D226F-EC82-4FFC-895B-5DCAE41B109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952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474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0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08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41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134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21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846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451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55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83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59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BCAB11-41FB-4A0D-AFAB-459C2089559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81FF444-469B-4882-B717-899A5D55336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51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0992F7-FE0D-5F1F-0968-063F505C05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D3D7332D-F947-0455-350B-E48FFBA04E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D35DE-33E0-5F4C-F7CD-26D041D30BC5}"/>
              </a:ext>
            </a:extLst>
          </p:cNvPr>
          <p:cNvSpPr txBox="1"/>
          <p:nvPr/>
        </p:nvSpPr>
        <p:spPr>
          <a:xfrm>
            <a:off x="582034" y="1177759"/>
            <a:ext cx="70749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CBFDFD"/>
                </a:solidFill>
                <a:latin typeface="+mj-lt"/>
              </a:rPr>
              <a:t>Combating Financial Crime</a:t>
            </a:r>
            <a:r>
              <a:rPr lang="en-US" sz="4000" b="1" dirty="0">
                <a:solidFill>
                  <a:srgbClr val="CBFDFD"/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rgbClr val="CBFDFD"/>
                </a:solidFill>
                <a:latin typeface="+mj-lt"/>
              </a:rPr>
              <a:t>A Credit Card Fraud Detection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256B90-4EC3-6B23-9932-F9B27692D57C}"/>
              </a:ext>
            </a:extLst>
          </p:cNvPr>
          <p:cNvSpPr txBox="1"/>
          <p:nvPr/>
        </p:nvSpPr>
        <p:spPr>
          <a:xfrm>
            <a:off x="582034" y="2642678"/>
            <a:ext cx="7074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BFDFD"/>
                </a:solidFill>
              </a:rPr>
              <a:t>Uncovering sophisticated fraud patterns to protect consumers and financial institutions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E7851-AB46-7496-A445-0D369930B863}"/>
              </a:ext>
            </a:extLst>
          </p:cNvPr>
          <p:cNvSpPr txBox="1"/>
          <p:nvPr/>
        </p:nvSpPr>
        <p:spPr>
          <a:xfrm>
            <a:off x="582034" y="5524607"/>
            <a:ext cx="7074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BFDFD"/>
                </a:solidFill>
              </a:rPr>
              <a:t>Puja Patidar</a:t>
            </a:r>
          </a:p>
          <a:p>
            <a:r>
              <a:rPr lang="en-US" dirty="0">
                <a:solidFill>
                  <a:srgbClr val="CBFDFD"/>
                </a:solidFill>
              </a:rPr>
              <a:t>Jan 2026</a:t>
            </a:r>
          </a:p>
        </p:txBody>
      </p:sp>
    </p:spTree>
    <p:extLst>
      <p:ext uri="{BB962C8B-B14F-4D97-AF65-F5344CB8AC3E}">
        <p14:creationId xmlns:p14="http://schemas.microsoft.com/office/powerpoint/2010/main" val="356950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794C-9249-8704-E7C5-124DA56AE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Problem Context, Modeling Approach, and Final Outcome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02044F-ED21-1B02-134D-9F6D507ECCA7}"/>
              </a:ext>
            </a:extLst>
          </p:cNvPr>
          <p:cNvSpPr/>
          <p:nvPr/>
        </p:nvSpPr>
        <p:spPr>
          <a:xfrm>
            <a:off x="1097280" y="2050473"/>
            <a:ext cx="3216102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Problem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D4DCC9-EA5E-2064-7DFE-1D95572328E4}"/>
              </a:ext>
            </a:extLst>
          </p:cNvPr>
          <p:cNvSpPr/>
          <p:nvPr/>
        </p:nvSpPr>
        <p:spPr>
          <a:xfrm>
            <a:off x="1097280" y="2720110"/>
            <a:ext cx="3216102" cy="348672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E622D-89FA-B9D4-3D0C-1B0A0DE2BE46}"/>
              </a:ext>
            </a:extLst>
          </p:cNvPr>
          <p:cNvSpPr/>
          <p:nvPr/>
        </p:nvSpPr>
        <p:spPr>
          <a:xfrm>
            <a:off x="4518429" y="2050473"/>
            <a:ext cx="3216102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Modelling Approach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9D8A5C-4017-4551-482C-61041F8E7B59}"/>
              </a:ext>
            </a:extLst>
          </p:cNvPr>
          <p:cNvSpPr/>
          <p:nvPr/>
        </p:nvSpPr>
        <p:spPr>
          <a:xfrm>
            <a:off x="4518429" y="2720110"/>
            <a:ext cx="3216102" cy="348672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ABAF5-DEC3-4E88-C66C-369DD66BCE38}"/>
              </a:ext>
            </a:extLst>
          </p:cNvPr>
          <p:cNvSpPr/>
          <p:nvPr/>
        </p:nvSpPr>
        <p:spPr>
          <a:xfrm>
            <a:off x="7939578" y="2050473"/>
            <a:ext cx="3216102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Final Outcome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15804C-870A-DF89-5053-446ACD0D6B41}"/>
              </a:ext>
            </a:extLst>
          </p:cNvPr>
          <p:cNvSpPr/>
          <p:nvPr/>
        </p:nvSpPr>
        <p:spPr>
          <a:xfrm>
            <a:off x="7939578" y="2720110"/>
            <a:ext cx="3216102" cy="348672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91CCF108-6783-9307-AE5D-8D6849EA7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698" y="2838352"/>
            <a:ext cx="31052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Credit card fraud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low-frequency but high-impact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risk in digital payments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Extreme class imbalance (~0.5% fraud) renders accuracy-driven and rule-based systems ineffective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251C673B-2F3D-F52A-DEFB-1CF8F842F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694" y="2838352"/>
            <a:ext cx="30387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 a full ML pipeline using imbalance-aware techniques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Prioritized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PR-AUC and fraud recall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over accuracy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Evaluated multiple models under a consistent framework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F6A2D8BF-4EE1-F7D8-0DC0-293D86054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869" y="2838352"/>
            <a:ext cx="301752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selected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the final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Achieved strong fraud detection with stable generalization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is suitable for deployment with threshold tuning</a:t>
            </a:r>
          </a:p>
        </p:txBody>
      </p:sp>
    </p:spTree>
    <p:extLst>
      <p:ext uri="{BB962C8B-B14F-4D97-AF65-F5344CB8AC3E}">
        <p14:creationId xmlns:p14="http://schemas.microsoft.com/office/powerpoint/2010/main" val="373966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2847-2806-D755-526E-22FEC5E5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73BBB-745A-A7D3-162C-EFDB0F918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The Need for Scalable and Adaptive Fraud Detection</a:t>
            </a:r>
            <a:endParaRPr lang="en-IN" sz="27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4F0622-302B-BB97-1123-597B192093A0}"/>
              </a:ext>
            </a:extLst>
          </p:cNvPr>
          <p:cNvSpPr/>
          <p:nvPr/>
        </p:nvSpPr>
        <p:spPr>
          <a:xfrm>
            <a:off x="1097279" y="2180703"/>
            <a:ext cx="4934065" cy="47547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Financial Losses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3FD269-C34B-8508-3D9E-99B4CB07A2DB}"/>
              </a:ext>
            </a:extLst>
          </p:cNvPr>
          <p:cNvSpPr/>
          <p:nvPr/>
        </p:nvSpPr>
        <p:spPr>
          <a:xfrm>
            <a:off x="1097279" y="2773807"/>
            <a:ext cx="4934065" cy="1161844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Fraud leads to significant monetary losses for banks, merchants, and customers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BDBA3-9D43-F970-44CC-696280B16066}"/>
              </a:ext>
            </a:extLst>
          </p:cNvPr>
          <p:cNvSpPr/>
          <p:nvPr/>
        </p:nvSpPr>
        <p:spPr>
          <a:xfrm>
            <a:off x="6223463" y="2189942"/>
            <a:ext cx="4934065" cy="47547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Reputational Damage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E8C6D1-DD0E-B051-94B9-EC7B406D8642}"/>
              </a:ext>
            </a:extLst>
          </p:cNvPr>
          <p:cNvSpPr/>
          <p:nvPr/>
        </p:nvSpPr>
        <p:spPr>
          <a:xfrm>
            <a:off x="6223463" y="2783046"/>
            <a:ext cx="4934065" cy="1161844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Repeated fraud incidents erode customer trust and brand credibility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5673B-1D59-42EE-30CB-8E385C148904}"/>
              </a:ext>
            </a:extLst>
          </p:cNvPr>
          <p:cNvSpPr/>
          <p:nvPr/>
        </p:nvSpPr>
        <p:spPr>
          <a:xfrm>
            <a:off x="1097279" y="4353396"/>
            <a:ext cx="4934065" cy="47547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Operational Burden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2A64C3-F1A1-2DAB-CFD1-2EB7EF174C63}"/>
              </a:ext>
            </a:extLst>
          </p:cNvPr>
          <p:cNvSpPr/>
          <p:nvPr/>
        </p:nvSpPr>
        <p:spPr>
          <a:xfrm>
            <a:off x="1097279" y="4965350"/>
            <a:ext cx="4934065" cy="1161844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Manual investigations increase cost and response time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E8A332-1005-E937-229A-F341B6DE17A0}"/>
              </a:ext>
            </a:extLst>
          </p:cNvPr>
          <p:cNvSpPr/>
          <p:nvPr/>
        </p:nvSpPr>
        <p:spPr>
          <a:xfrm>
            <a:off x="6223463" y="4362635"/>
            <a:ext cx="4934065" cy="47547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Evolving Threats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37CEC6-6FAF-6636-E9D1-F10F7831F123}"/>
              </a:ext>
            </a:extLst>
          </p:cNvPr>
          <p:cNvSpPr/>
          <p:nvPr/>
        </p:nvSpPr>
        <p:spPr>
          <a:xfrm>
            <a:off x="6223463" y="4974589"/>
            <a:ext cx="4934065" cy="1161844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Fraud patterns adapt continuously, requiring dynamic detection systems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1C156-31D7-25F5-0D4B-993CB9C0640D}"/>
              </a:ext>
            </a:extLst>
          </p:cNvPr>
          <p:cNvSpPr txBox="1"/>
          <p:nvPr/>
        </p:nvSpPr>
        <p:spPr>
          <a:xfrm>
            <a:off x="1097279" y="177898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</a:rPr>
              <a:t>Why Traditional Detection Approaches Are Insufficient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8495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E1F14-6C96-C31B-B8C3-5C6C106A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7469D-3AF6-983C-8D3D-A8761A1C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Who This Solution Is Designed For?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408974-9BFE-5E10-53A0-BCA48101DD9C}"/>
              </a:ext>
            </a:extLst>
          </p:cNvPr>
          <p:cNvSpPr/>
          <p:nvPr/>
        </p:nvSpPr>
        <p:spPr>
          <a:xfrm>
            <a:off x="1097280" y="3142673"/>
            <a:ext cx="3216102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Banking &amp; FinTech Stakeholders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40F94D-8C4F-C25A-9405-09F6FFB522B2}"/>
              </a:ext>
            </a:extLst>
          </p:cNvPr>
          <p:cNvSpPr/>
          <p:nvPr/>
        </p:nvSpPr>
        <p:spPr>
          <a:xfrm>
            <a:off x="1097280" y="3812310"/>
            <a:ext cx="3216102" cy="1514764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1C9E7-3DA8-957E-ADC0-9D3D5A80A778}"/>
              </a:ext>
            </a:extLst>
          </p:cNvPr>
          <p:cNvSpPr/>
          <p:nvPr/>
        </p:nvSpPr>
        <p:spPr>
          <a:xfrm>
            <a:off x="4518429" y="3142673"/>
            <a:ext cx="3216102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Fraud Analytics Teams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AF8BE-4A38-3973-14DE-0EB197B6F6FE}"/>
              </a:ext>
            </a:extLst>
          </p:cNvPr>
          <p:cNvSpPr/>
          <p:nvPr/>
        </p:nvSpPr>
        <p:spPr>
          <a:xfrm>
            <a:off x="4518429" y="3812310"/>
            <a:ext cx="3216102" cy="1514764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8A8353-66DE-EECE-6581-2FF3515C8985}"/>
              </a:ext>
            </a:extLst>
          </p:cNvPr>
          <p:cNvSpPr/>
          <p:nvPr/>
        </p:nvSpPr>
        <p:spPr>
          <a:xfrm>
            <a:off x="7939578" y="3142672"/>
            <a:ext cx="3216102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Data Science &amp; Engineering Teams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2539C9-061B-1721-B872-C487124E09B6}"/>
              </a:ext>
            </a:extLst>
          </p:cNvPr>
          <p:cNvSpPr/>
          <p:nvPr/>
        </p:nvSpPr>
        <p:spPr>
          <a:xfrm>
            <a:off x="7939578" y="3812310"/>
            <a:ext cx="3216102" cy="1514764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B3D0DC1-8845-320F-CF94-346F0FE14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698" y="3930552"/>
            <a:ext cx="31052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Reduced financial exposure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Improved platform-level security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52CCB63A-35B6-6B96-72D7-3C9422554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694" y="3930552"/>
            <a:ext cx="30387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Higher-quality alerts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More efficient investigation workflows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9260A742-9C17-4DFD-95DE-E077595A7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869" y="3930552"/>
            <a:ext cx="30175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Scalable, interpretable ML pipeline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Ability to tune thresholds based on risk appetite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46952B-1E7D-00BF-D6CE-C53379E50559}"/>
              </a:ext>
            </a:extLst>
          </p:cNvPr>
          <p:cNvSpPr/>
          <p:nvPr/>
        </p:nvSpPr>
        <p:spPr>
          <a:xfrm>
            <a:off x="1097280" y="1957896"/>
            <a:ext cx="3216102" cy="1087793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6E08FF-81E3-8DD9-CD73-F446D1C9422B}"/>
              </a:ext>
            </a:extLst>
          </p:cNvPr>
          <p:cNvSpPr/>
          <p:nvPr/>
        </p:nvSpPr>
        <p:spPr>
          <a:xfrm>
            <a:off x="4518429" y="1957896"/>
            <a:ext cx="3216102" cy="1087793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8E2519-82C3-F16F-FE18-8A11629A3338}"/>
              </a:ext>
            </a:extLst>
          </p:cNvPr>
          <p:cNvSpPr/>
          <p:nvPr/>
        </p:nvSpPr>
        <p:spPr>
          <a:xfrm>
            <a:off x="7939578" y="1957896"/>
            <a:ext cx="3216102" cy="1087793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F6049-AC02-4AE8-7A06-BE8F412F5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382" y="2118671"/>
            <a:ext cx="986400" cy="7000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31348E-3653-2F87-E1A9-AE74881A0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437" y="2061885"/>
            <a:ext cx="985277" cy="813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B97DA95-6641-4194-65A5-53F361AAA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657" y="2061885"/>
            <a:ext cx="950961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8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0011-500A-D9A1-DA37-D522A730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001D-EE3F-1654-43F7-F0BA6CF5E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51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sz="3600" b="1" dirty="0"/>
              <a:t>Problem Definition and Objective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04ABF-628A-6F8F-4207-F16B17C9C84F}"/>
              </a:ext>
            </a:extLst>
          </p:cNvPr>
          <p:cNvSpPr/>
          <p:nvPr/>
        </p:nvSpPr>
        <p:spPr>
          <a:xfrm>
            <a:off x="1164605" y="2185431"/>
            <a:ext cx="3341717" cy="1450757"/>
          </a:xfrm>
          <a:prstGeom prst="rect">
            <a:avLst/>
          </a:prstGeom>
          <a:solidFill>
            <a:srgbClr val="629DD1"/>
          </a:solidFill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FEECAB-7563-4C4D-1631-FC538EB91826}"/>
              </a:ext>
            </a:extLst>
          </p:cNvPr>
          <p:cNvSpPr/>
          <p:nvPr/>
        </p:nvSpPr>
        <p:spPr>
          <a:xfrm>
            <a:off x="4494413" y="2185430"/>
            <a:ext cx="6582029" cy="1450758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CE04B-DBA0-7941-4C78-728A6D93E685}"/>
              </a:ext>
            </a:extLst>
          </p:cNvPr>
          <p:cNvSpPr/>
          <p:nvPr/>
        </p:nvSpPr>
        <p:spPr>
          <a:xfrm>
            <a:off x="1164605" y="4298602"/>
            <a:ext cx="3341717" cy="1450757"/>
          </a:xfrm>
          <a:prstGeom prst="rect">
            <a:avLst/>
          </a:prstGeom>
          <a:solidFill>
            <a:srgbClr val="629DD1"/>
          </a:solidFill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Objective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2B3B0F-1B78-EEB4-63EC-8756C48B938C}"/>
              </a:ext>
            </a:extLst>
          </p:cNvPr>
          <p:cNvSpPr/>
          <p:nvPr/>
        </p:nvSpPr>
        <p:spPr>
          <a:xfrm>
            <a:off x="4506321" y="4292105"/>
            <a:ext cx="6582029" cy="1463751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138D8-9782-12AE-189A-55AF26BA389A}"/>
              </a:ext>
            </a:extLst>
          </p:cNvPr>
          <p:cNvSpPr txBox="1"/>
          <p:nvPr/>
        </p:nvSpPr>
        <p:spPr>
          <a:xfrm>
            <a:off x="5161791" y="2449144"/>
            <a:ext cx="5681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Fraud transactions are extremely rare but highly costly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</a:rPr>
              <a:t>Accuracy-based models mask poor fraud detection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44A29C-7D6C-2A67-F268-E842D3A6B354}"/>
              </a:ext>
            </a:extLst>
          </p:cNvPr>
          <p:cNvSpPr txBox="1"/>
          <p:nvPr/>
        </p:nvSpPr>
        <p:spPr>
          <a:xfrm>
            <a:off x="5161791" y="4562315"/>
            <a:ext cx="5681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Maximize the detection of fraudulent transactions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Maintain a manageable false-positive rate for operational feasibility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78CB175E-6F1A-21B6-EF31-531D32F5EDB0}"/>
              </a:ext>
            </a:extLst>
          </p:cNvPr>
          <p:cNvSpPr/>
          <p:nvPr/>
        </p:nvSpPr>
        <p:spPr>
          <a:xfrm rot="5400000">
            <a:off x="4043394" y="2638849"/>
            <a:ext cx="1469775" cy="543921"/>
          </a:xfrm>
          <a:prstGeom prst="triangle">
            <a:avLst/>
          </a:prstGeom>
          <a:ln>
            <a:solidFill>
              <a:srgbClr val="629DD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1473FDE-DEF9-2227-966D-C20BF906D9C1}"/>
              </a:ext>
            </a:extLst>
          </p:cNvPr>
          <p:cNvSpPr/>
          <p:nvPr/>
        </p:nvSpPr>
        <p:spPr>
          <a:xfrm rot="5400000">
            <a:off x="4043394" y="4752020"/>
            <a:ext cx="1469775" cy="543921"/>
          </a:xfrm>
          <a:prstGeom prst="triangle">
            <a:avLst/>
          </a:prstGeom>
          <a:ln>
            <a:solidFill>
              <a:srgbClr val="629DD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519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F89F-848A-CCA5-1AD9-95CE88DF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8950-FF25-FE81-8F9B-B9516467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Data Overview and Core Challenges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44199E-43CD-AC98-EC4E-4DE9D589E72B}"/>
              </a:ext>
            </a:extLst>
          </p:cNvPr>
          <p:cNvSpPr/>
          <p:nvPr/>
        </p:nvSpPr>
        <p:spPr>
          <a:xfrm>
            <a:off x="1097279" y="2050473"/>
            <a:ext cx="4102793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8FC028-B761-29B3-2AC4-0A51A170552D}"/>
              </a:ext>
            </a:extLst>
          </p:cNvPr>
          <p:cNvSpPr/>
          <p:nvPr/>
        </p:nvSpPr>
        <p:spPr>
          <a:xfrm>
            <a:off x="1097280" y="2720110"/>
            <a:ext cx="4102792" cy="290849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B0B818-E04B-B55A-F7CF-85D9050D5613}"/>
              </a:ext>
            </a:extLst>
          </p:cNvPr>
          <p:cNvSpPr/>
          <p:nvPr/>
        </p:nvSpPr>
        <p:spPr>
          <a:xfrm>
            <a:off x="6208683" y="2050473"/>
            <a:ext cx="4006734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Core Challenges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C39A5E-82E6-D433-88DA-9BA8266348F5}"/>
              </a:ext>
            </a:extLst>
          </p:cNvPr>
          <p:cNvSpPr/>
          <p:nvPr/>
        </p:nvSpPr>
        <p:spPr>
          <a:xfrm>
            <a:off x="6208684" y="2725686"/>
            <a:ext cx="4006734" cy="290849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3BDAD65-C558-20FC-22C8-2E514015B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698" y="2838352"/>
            <a:ext cx="39613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1.85 million transactions (2019–2020)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1,000 customers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~800 merchants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Mix of numerical, categorical, temporal, and geographic features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6AC80752-0368-5103-7C5B-D88AEBD74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683" y="2986145"/>
            <a:ext cx="400673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Severe class imbalance (~0.5% fraud)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High variability in customer spending </a:t>
            </a:r>
            <a:r>
              <a:rPr lang="en-IN" dirty="0" err="1"/>
              <a:t>behavior</a:t>
            </a: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Fraud patterns driven by interactions across multiple features</a:t>
            </a:r>
          </a:p>
        </p:txBody>
      </p:sp>
    </p:spTree>
    <p:extLst>
      <p:ext uri="{BB962C8B-B14F-4D97-AF65-F5344CB8AC3E}">
        <p14:creationId xmlns:p14="http://schemas.microsoft.com/office/powerpoint/2010/main" val="698288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6474C-744D-31A1-B4E2-DCED6579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89D4-376D-02A4-BC7C-6F35B813B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51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 </a:t>
            </a:r>
            <a:r>
              <a:rPr lang="en-IN" sz="3200" b="1" dirty="0"/>
              <a:t>Data Quality and Preparation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FE7352-0F20-F995-0697-06A3E2B73CF9}"/>
              </a:ext>
            </a:extLst>
          </p:cNvPr>
          <p:cNvSpPr/>
          <p:nvPr/>
        </p:nvSpPr>
        <p:spPr>
          <a:xfrm>
            <a:off x="1183901" y="1986602"/>
            <a:ext cx="6833263" cy="465678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Key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CF1B7-451C-FCB9-3AB7-DC68CE42F353}"/>
              </a:ext>
            </a:extLst>
          </p:cNvPr>
          <p:cNvSpPr/>
          <p:nvPr/>
        </p:nvSpPr>
        <p:spPr>
          <a:xfrm>
            <a:off x="8280497" y="1986602"/>
            <a:ext cx="2807854" cy="480467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Outcome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7893C1-5C66-E763-544D-48B39F3776A2}"/>
              </a:ext>
            </a:extLst>
          </p:cNvPr>
          <p:cNvSpPr txBox="1"/>
          <p:nvPr/>
        </p:nvSpPr>
        <p:spPr>
          <a:xfrm>
            <a:off x="1579650" y="2859776"/>
            <a:ext cx="60417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Validated data completeness and consistency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Corrected data types and feature formats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No missing or duplicate records observed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Prepared an analysis-ready dataset for EDA and modelling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13594B-E24A-C69A-29F1-E25B580B20AA}"/>
              </a:ext>
            </a:extLst>
          </p:cNvPr>
          <p:cNvSpPr txBox="1"/>
          <p:nvPr/>
        </p:nvSpPr>
        <p:spPr>
          <a:xfrm>
            <a:off x="8552909" y="3367607"/>
            <a:ext cx="25354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Clean and reliable input for downstream modelling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61C2C72-D849-7C14-25E7-EBE1E97ABBE3}"/>
              </a:ext>
            </a:extLst>
          </p:cNvPr>
          <p:cNvSpPr/>
          <p:nvPr/>
        </p:nvSpPr>
        <p:spPr>
          <a:xfrm>
            <a:off x="8021879" y="1989316"/>
            <a:ext cx="258618" cy="3796145"/>
          </a:xfrm>
          <a:prstGeom prst="rightBrace">
            <a:avLst>
              <a:gd name="adj1" fmla="val 8571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41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B36C-8C25-6936-ECE8-D0B2943A9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EDA Findings That Informed </a:t>
            </a:r>
            <a:r>
              <a:rPr lang="en-IN" sz="3600" b="1" dirty="0" err="1"/>
              <a:t>Modeling</a:t>
            </a:r>
            <a:r>
              <a:rPr lang="en-IN" sz="3600" b="1" dirty="0"/>
              <a:t> Decisions</a:t>
            </a:r>
            <a:endParaRPr lang="en-IN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1FF5C9-4B93-C42A-0658-EAE57DDD6083}"/>
              </a:ext>
            </a:extLst>
          </p:cNvPr>
          <p:cNvSpPr/>
          <p:nvPr/>
        </p:nvSpPr>
        <p:spPr>
          <a:xfrm>
            <a:off x="1097280" y="5463477"/>
            <a:ext cx="10058400" cy="7887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These insights directly guided the choice of temporal, </a:t>
            </a:r>
            <a:r>
              <a:rPr lang="en-IN" dirty="0" err="1">
                <a:solidFill>
                  <a:schemeClr val="tx1"/>
                </a:solidFill>
              </a:rPr>
              <a:t>behavioral</a:t>
            </a:r>
            <a:r>
              <a:rPr lang="en-IN" dirty="0">
                <a:solidFill>
                  <a:schemeClr val="tx1"/>
                </a:solidFill>
              </a:rPr>
              <a:t>, and deviation-based features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73BBD-2921-F6A3-F49C-C25776EC7621}"/>
              </a:ext>
            </a:extLst>
          </p:cNvPr>
          <p:cNvSpPr/>
          <p:nvPr/>
        </p:nvSpPr>
        <p:spPr>
          <a:xfrm>
            <a:off x="1097280" y="1935939"/>
            <a:ext cx="3216102" cy="78878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A. </a:t>
            </a:r>
            <a:r>
              <a:rPr lang="en-IN" sz="1600" dirty="0">
                <a:solidFill>
                  <a:schemeClr val="tx1"/>
                </a:solidFill>
              </a:rPr>
              <a:t>Fraud incidence is higher during </a:t>
            </a:r>
            <a:r>
              <a:rPr lang="en-IN" sz="1600" b="1" dirty="0">
                <a:solidFill>
                  <a:schemeClr val="tx1"/>
                </a:solidFill>
              </a:rPr>
              <a:t>night hours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92F8E9-3CFF-E185-06AB-4C955860BDD9}"/>
              </a:ext>
            </a:extLst>
          </p:cNvPr>
          <p:cNvSpPr/>
          <p:nvPr/>
        </p:nvSpPr>
        <p:spPr>
          <a:xfrm>
            <a:off x="4518429" y="1935939"/>
            <a:ext cx="3216102" cy="78878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B. </a:t>
            </a:r>
            <a:r>
              <a:rPr lang="en-IN" sz="1600" dirty="0">
                <a:solidFill>
                  <a:schemeClr val="tx1"/>
                </a:solidFill>
              </a:rPr>
              <a:t>Fraud rates peak on </a:t>
            </a:r>
            <a:r>
              <a:rPr lang="en-IN" sz="1600" b="1" dirty="0">
                <a:solidFill>
                  <a:schemeClr val="tx1"/>
                </a:solidFill>
              </a:rPr>
              <a:t>Thursday–Friday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01F90D-7510-8E62-929C-C04201770F45}"/>
              </a:ext>
            </a:extLst>
          </p:cNvPr>
          <p:cNvSpPr/>
          <p:nvPr/>
        </p:nvSpPr>
        <p:spPr>
          <a:xfrm>
            <a:off x="7939578" y="1935939"/>
            <a:ext cx="3216102" cy="78878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C. </a:t>
            </a:r>
            <a:r>
              <a:rPr lang="en-IN" sz="1600" dirty="0">
                <a:solidFill>
                  <a:schemeClr val="tx1"/>
                </a:solidFill>
              </a:rPr>
              <a:t>Fraud transactions show </a:t>
            </a:r>
            <a:r>
              <a:rPr lang="en-IN" sz="1600" b="1" dirty="0">
                <a:solidFill>
                  <a:schemeClr val="tx1"/>
                </a:solidFill>
              </a:rPr>
              <a:t>higher variance in amount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86D6C4-F645-FE1A-7592-28906357B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201981"/>
            <a:ext cx="3216102" cy="19560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8952EF-7B89-AD26-10AA-9E7DAFACE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429" y="2979326"/>
            <a:ext cx="3216102" cy="24013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EB33E60-8639-D29A-3A64-81D9C488C4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75" y="3406560"/>
            <a:ext cx="3001708" cy="154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15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C8B5-6B3A-BF2E-40CD-D7A679DE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ACC7-88F5-D7C4-E8B7-7F8C3FBA4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51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 </a:t>
            </a:r>
            <a:r>
              <a:rPr lang="en-IN" sz="3600" b="1" dirty="0"/>
              <a:t>Feature Engineering Strategy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25B281-78CF-EFDE-4ED0-60D98995A828}"/>
              </a:ext>
            </a:extLst>
          </p:cNvPr>
          <p:cNvSpPr/>
          <p:nvPr/>
        </p:nvSpPr>
        <p:spPr>
          <a:xfrm>
            <a:off x="1164605" y="2198500"/>
            <a:ext cx="3341717" cy="1815627"/>
          </a:xfrm>
          <a:prstGeom prst="rect">
            <a:avLst/>
          </a:prstGeom>
          <a:solidFill>
            <a:srgbClr val="629DD1"/>
          </a:solidFill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Feature Categories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46D92-1435-0B71-6571-53C36A3EA742}"/>
              </a:ext>
            </a:extLst>
          </p:cNvPr>
          <p:cNvSpPr/>
          <p:nvPr/>
        </p:nvSpPr>
        <p:spPr>
          <a:xfrm>
            <a:off x="4494413" y="2203254"/>
            <a:ext cx="6582029" cy="1810874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1E22AD-F672-B5A6-E3FE-C494923E10EE}"/>
              </a:ext>
            </a:extLst>
          </p:cNvPr>
          <p:cNvSpPr/>
          <p:nvPr/>
        </p:nvSpPr>
        <p:spPr>
          <a:xfrm>
            <a:off x="1164605" y="4298602"/>
            <a:ext cx="3341717" cy="1450757"/>
          </a:xfrm>
          <a:prstGeom prst="rect">
            <a:avLst/>
          </a:prstGeom>
          <a:solidFill>
            <a:srgbClr val="629DD1"/>
          </a:solidFill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Rationale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B68B5-F2AD-E361-1D23-185FFE65190C}"/>
              </a:ext>
            </a:extLst>
          </p:cNvPr>
          <p:cNvSpPr/>
          <p:nvPr/>
        </p:nvSpPr>
        <p:spPr>
          <a:xfrm>
            <a:off x="4506321" y="4292105"/>
            <a:ext cx="6582029" cy="1463751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3BCA8-037E-73A5-3AB8-99086248CC58}"/>
              </a:ext>
            </a:extLst>
          </p:cNvPr>
          <p:cNvSpPr txBox="1"/>
          <p:nvPr/>
        </p:nvSpPr>
        <p:spPr>
          <a:xfrm>
            <a:off x="5161790" y="2367649"/>
            <a:ext cx="5914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IN" b="1" dirty="0"/>
              <a:t>Temporal:</a:t>
            </a:r>
            <a:r>
              <a:rPr lang="en-IN" dirty="0"/>
              <a:t> hour, day of week, weekend, night indicators</a:t>
            </a:r>
          </a:p>
          <a:p>
            <a:pPr fontAlgn="ctr"/>
            <a:r>
              <a:rPr lang="en-IN" b="1" dirty="0" err="1"/>
              <a:t>Behavioral</a:t>
            </a:r>
            <a:r>
              <a:rPr lang="en-IN" b="1" dirty="0"/>
              <a:t>:</a:t>
            </a:r>
            <a:r>
              <a:rPr lang="en-IN" dirty="0"/>
              <a:t> rolling mean, deviation from recent spend</a:t>
            </a:r>
          </a:p>
          <a:p>
            <a:pPr fontAlgn="ctr"/>
            <a:r>
              <a:rPr lang="en-IN" b="1" dirty="0"/>
              <a:t>Velocity:</a:t>
            </a:r>
            <a:r>
              <a:rPr lang="en-IN" dirty="0"/>
              <a:t> transaction bursts within 24-hour windows</a:t>
            </a:r>
          </a:p>
          <a:p>
            <a:pPr fontAlgn="ctr"/>
            <a:r>
              <a:rPr lang="en-IN" b="1" dirty="0"/>
              <a:t>Geographical:</a:t>
            </a:r>
            <a:r>
              <a:rPr lang="en-IN" dirty="0"/>
              <a:t> customer–merchant distance using Haversine</a:t>
            </a:r>
          </a:p>
          <a:p>
            <a:pPr fontAlgn="ctr"/>
            <a:r>
              <a:rPr lang="en-IN" b="1" dirty="0"/>
              <a:t>Monetary:</a:t>
            </a:r>
            <a:r>
              <a:rPr lang="en-IN" dirty="0"/>
              <a:t> log-transformed transaction amount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29A8E-ADB4-C3B9-FE57-B54A0E75DC10}"/>
              </a:ext>
            </a:extLst>
          </p:cNvPr>
          <p:cNvSpPr txBox="1"/>
          <p:nvPr/>
        </p:nvSpPr>
        <p:spPr>
          <a:xfrm>
            <a:off x="5161790" y="4787866"/>
            <a:ext cx="592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IN" dirty="0"/>
              <a:t>Fraud emerges from </a:t>
            </a:r>
            <a:r>
              <a:rPr lang="en-IN" b="1" dirty="0" err="1"/>
              <a:t>behavioral</a:t>
            </a:r>
            <a:r>
              <a:rPr lang="en-IN" b="1" dirty="0"/>
              <a:t> anomalies</a:t>
            </a:r>
            <a:r>
              <a:rPr lang="en-IN" dirty="0"/>
              <a:t>, not single attributes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8BEDDA0-F15C-F882-8428-94347683BA81}"/>
              </a:ext>
            </a:extLst>
          </p:cNvPr>
          <p:cNvSpPr/>
          <p:nvPr/>
        </p:nvSpPr>
        <p:spPr>
          <a:xfrm rot="5400000">
            <a:off x="3853805" y="2834353"/>
            <a:ext cx="1825136" cy="543921"/>
          </a:xfrm>
          <a:prstGeom prst="triangle">
            <a:avLst/>
          </a:prstGeom>
          <a:ln>
            <a:solidFill>
              <a:srgbClr val="629DD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B15D2B5-B6D0-7E37-B9C2-96FCAEA811B1}"/>
              </a:ext>
            </a:extLst>
          </p:cNvPr>
          <p:cNvSpPr/>
          <p:nvPr/>
        </p:nvSpPr>
        <p:spPr>
          <a:xfrm rot="5400000">
            <a:off x="4043394" y="4752020"/>
            <a:ext cx="1469775" cy="543921"/>
          </a:xfrm>
          <a:prstGeom prst="triangle">
            <a:avLst/>
          </a:prstGeom>
          <a:ln>
            <a:solidFill>
              <a:srgbClr val="629DD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518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78C80-30D9-BA71-D73D-7659459C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3CE0-9345-A90C-EE0F-E8435906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Modelling Strategy and Evaluation Framework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E0081C-8CC4-A867-EA44-BE19347CF8D8}"/>
              </a:ext>
            </a:extLst>
          </p:cNvPr>
          <p:cNvSpPr/>
          <p:nvPr/>
        </p:nvSpPr>
        <p:spPr>
          <a:xfrm>
            <a:off x="1097280" y="2050473"/>
            <a:ext cx="3063600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Modelling Approach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81CDD0-96F4-9E99-517F-33C982C8E7C8}"/>
              </a:ext>
            </a:extLst>
          </p:cNvPr>
          <p:cNvSpPr/>
          <p:nvPr/>
        </p:nvSpPr>
        <p:spPr>
          <a:xfrm>
            <a:off x="1097281" y="2720110"/>
            <a:ext cx="3063599" cy="290849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C2A11-F5AB-E795-E5F1-86ED9606D47E}"/>
              </a:ext>
            </a:extLst>
          </p:cNvPr>
          <p:cNvSpPr/>
          <p:nvPr/>
        </p:nvSpPr>
        <p:spPr>
          <a:xfrm>
            <a:off x="4563171" y="2050473"/>
            <a:ext cx="3064628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Evaluation Metrics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7B254D-7F45-999A-F072-F34F04BD228A}"/>
              </a:ext>
            </a:extLst>
          </p:cNvPr>
          <p:cNvSpPr/>
          <p:nvPr/>
        </p:nvSpPr>
        <p:spPr>
          <a:xfrm>
            <a:off x="4563172" y="2720110"/>
            <a:ext cx="3064627" cy="290849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8EA4CAC4-4E33-8C0F-6BDC-0C5E978EB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2838352"/>
            <a:ext cx="306359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Stratified train–test split and cross-validation</a:t>
            </a:r>
          </a:p>
          <a:p>
            <a:pPr fontAlgn="ctr"/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SMOTE applied only on training data to prevent leakage</a:t>
            </a:r>
          </a:p>
          <a:p>
            <a:pPr fontAlgn="ctr"/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Consistent preprocessing pipeline across models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757F7242-E405-937F-422F-A4B446EB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171" y="2838352"/>
            <a:ext cx="306462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b="1" dirty="0"/>
              <a:t>Primary:</a:t>
            </a:r>
            <a:r>
              <a:rPr lang="en-IN" dirty="0"/>
              <a:t> PR-AUC (minority-class focused)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b="1" dirty="0"/>
              <a:t>Secondary:</a:t>
            </a:r>
            <a:r>
              <a:rPr lang="en-IN" dirty="0"/>
              <a:t> Fraud recall</a:t>
            </a:r>
          </a:p>
          <a:p>
            <a:pPr fontAlgn="ctr"/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ROC-AUC monitored but not decision-driving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AE08FD-99B7-4616-2234-2C9BC3B935A8}"/>
              </a:ext>
            </a:extLst>
          </p:cNvPr>
          <p:cNvSpPr/>
          <p:nvPr/>
        </p:nvSpPr>
        <p:spPr>
          <a:xfrm>
            <a:off x="8030091" y="2050473"/>
            <a:ext cx="3064628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300" b="1" dirty="0">
                <a:solidFill>
                  <a:schemeClr val="tx1"/>
                </a:solidFill>
              </a:rPr>
              <a:t>Cross Validation Result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B8BE72-29B4-62F1-E656-550AB9BB4AB8}"/>
              </a:ext>
            </a:extLst>
          </p:cNvPr>
          <p:cNvSpPr/>
          <p:nvPr/>
        </p:nvSpPr>
        <p:spPr>
          <a:xfrm>
            <a:off x="8030091" y="2780626"/>
            <a:ext cx="3064627" cy="2847980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7AD7D0F-B45D-CFED-DC5D-E0163421D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954558"/>
              </p:ext>
            </p:extLst>
          </p:nvPr>
        </p:nvGraphicFramePr>
        <p:xfrm>
          <a:off x="8030090" y="2770501"/>
          <a:ext cx="3064627" cy="28479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6746">
                  <a:extLst>
                    <a:ext uri="{9D8B030D-6E8A-4147-A177-3AD203B41FA5}">
                      <a16:colId xmlns:a16="http://schemas.microsoft.com/office/drawing/2014/main" val="35374916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240164741"/>
                    </a:ext>
                  </a:extLst>
                </a:gridCol>
                <a:gridCol w="646546">
                  <a:extLst>
                    <a:ext uri="{9D8B030D-6E8A-4147-A177-3AD203B41FA5}">
                      <a16:colId xmlns:a16="http://schemas.microsoft.com/office/drawing/2014/main" val="3761348361"/>
                    </a:ext>
                  </a:extLst>
                </a:gridCol>
                <a:gridCol w="471054">
                  <a:extLst>
                    <a:ext uri="{9D8B030D-6E8A-4147-A177-3AD203B41FA5}">
                      <a16:colId xmlns:a16="http://schemas.microsoft.com/office/drawing/2014/main" val="2471344422"/>
                    </a:ext>
                  </a:extLst>
                </a:gridCol>
                <a:gridCol w="722281">
                  <a:extLst>
                    <a:ext uri="{9D8B030D-6E8A-4147-A177-3AD203B41FA5}">
                      <a16:colId xmlns:a16="http://schemas.microsoft.com/office/drawing/2014/main" val="3054378705"/>
                    </a:ext>
                  </a:extLst>
                </a:gridCol>
              </a:tblGrid>
              <a:tr h="638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Model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Train PR-AUC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Validation PR-AUC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Train Recall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Validation Recall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172801"/>
                  </a:ext>
                </a:extLst>
              </a:tr>
              <a:tr h="8742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Logistic Regression + SMOTE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0.2075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>
                          <a:effectLst/>
                        </a:rPr>
                        <a:t>0.2066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>
                          <a:effectLst/>
                        </a:rPr>
                        <a:t>0.9203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>
                          <a:effectLst/>
                        </a:rPr>
                        <a:t>0.8536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7417015"/>
                  </a:ext>
                </a:extLst>
              </a:tr>
              <a:tr h="444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Decision Tree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0.2478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0.2411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>
                          <a:effectLst/>
                        </a:rPr>
                        <a:t>0.8759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>
                          <a:effectLst/>
                        </a:rPr>
                        <a:t>0.8489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9128956"/>
                  </a:ext>
                </a:extLst>
              </a:tr>
              <a:tr h="444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Random Forest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0.734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0.6711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0.8843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>
                          <a:effectLst/>
                        </a:rPr>
                        <a:t>0.8585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1063724"/>
                  </a:ext>
                </a:extLst>
              </a:tr>
              <a:tr h="444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 err="1">
                          <a:effectLst/>
                        </a:rPr>
                        <a:t>XGBoost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>
                          <a:effectLst/>
                        </a:rPr>
                        <a:t>0.7742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0.7163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0.9442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0" dirty="0">
                          <a:effectLst/>
                        </a:rPr>
                        <a:t>0.8705</a:t>
                      </a:r>
                      <a:endParaRPr lang="en-IN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5714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99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D806-162B-832A-FBFA-17803469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Model Comparison and Final Selection</a:t>
            </a:r>
            <a:endParaRPr lang="en-IN" sz="36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0A51D0-5A4D-F9BF-E494-1AED58E9D43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77000" y="1992502"/>
            <a:ext cx="4828309" cy="2237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C02D3F-4AF0-C833-FA84-546AA5DE3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66" y="4257674"/>
            <a:ext cx="4653223" cy="2087707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FE4E33A3-5069-4644-6539-AF3ADD7FB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1846052"/>
            <a:ext cx="514880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ctr"/>
            <a:r>
              <a:rPr lang="en-IN" b="1" dirty="0">
                <a:solidFill>
                  <a:schemeClr val="accent1"/>
                </a:solidFill>
              </a:rPr>
              <a:t>Model Comparison Summary</a:t>
            </a:r>
            <a:endParaRPr lang="en-IN" dirty="0">
              <a:solidFill>
                <a:schemeClr val="accent1"/>
              </a:solidFill>
            </a:endParaRP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Logistic Regression: high recall, weak fraud ranking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Decision Tree: unstable, limited generalization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Random Forest: strong PR-AUC, moderate overfitting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b="1" dirty="0" err="1"/>
              <a:t>XGBoost</a:t>
            </a:r>
            <a:r>
              <a:rPr lang="en-IN" b="1" dirty="0"/>
              <a:t>:</a:t>
            </a:r>
            <a:r>
              <a:rPr lang="en-IN" dirty="0"/>
              <a:t> best balance of PR-AUC and recall</a:t>
            </a:r>
          </a:p>
          <a:p>
            <a:endParaRPr lang="en-IN" b="1" dirty="0"/>
          </a:p>
          <a:p>
            <a:r>
              <a:rPr lang="en-IN" b="1" dirty="0">
                <a:solidFill>
                  <a:schemeClr val="accent1"/>
                </a:solidFill>
              </a:rPr>
              <a:t>Final Model Performance</a:t>
            </a:r>
            <a:endParaRPr lang="en-IN" dirty="0">
              <a:solidFill>
                <a:schemeClr val="accent1"/>
              </a:solidFill>
            </a:endParaRP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Validation PR-AUC: </a:t>
            </a:r>
            <a:r>
              <a:rPr lang="en-IN" b="1" dirty="0"/>
              <a:t>0.716</a:t>
            </a: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Fraud recall: </a:t>
            </a:r>
            <a:r>
              <a:rPr lang="en-IN" b="1" dirty="0"/>
              <a:t>0.87</a:t>
            </a: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Controlled train–validation gap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68E066-E1A1-4282-D69F-BE50531BBF81}"/>
              </a:ext>
            </a:extLst>
          </p:cNvPr>
          <p:cNvSpPr/>
          <p:nvPr/>
        </p:nvSpPr>
        <p:spPr>
          <a:xfrm>
            <a:off x="1097280" y="5463477"/>
            <a:ext cx="5148802" cy="7887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XGBoost</a:t>
            </a:r>
            <a:r>
              <a:rPr lang="en-IN" dirty="0">
                <a:solidFill>
                  <a:schemeClr val="tx1"/>
                </a:solidFill>
              </a:rPr>
              <a:t> achieved the highest validation PR-AUC with strong recall and controlled generalization</a:t>
            </a:r>
            <a:endParaRPr lang="en-I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15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0079-8002-AFE2-7D5A-0AEC02B6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Results obtained from XG-Boost Model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1559C-EBC4-2D8A-5C1B-90B579966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862820"/>
            <a:ext cx="4937760" cy="618367"/>
          </a:xfrm>
        </p:spPr>
        <p:txBody>
          <a:bodyPr anchor="t"/>
          <a:lstStyle/>
          <a:p>
            <a:pPr algn="ctr"/>
            <a:r>
              <a:rPr lang="en-IN" cap="none" dirty="0"/>
              <a:t>Precision recall area under curve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409678-D986-0957-4590-59E814734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95" y="1845084"/>
            <a:ext cx="4937760" cy="618367"/>
          </a:xfrm>
        </p:spPr>
        <p:txBody>
          <a:bodyPr anchor="t"/>
          <a:lstStyle/>
          <a:p>
            <a:pPr algn="ctr"/>
            <a:r>
              <a:rPr lang="en-IN" cap="none" dirty="0"/>
              <a:t>Confusion matrix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932C73-6DB7-96F4-E9E8-2E3FF5BC86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56337" y="2481187"/>
            <a:ext cx="4938712" cy="2967113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3F681D-4CF1-C174-DC77-55D0BF7A883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76"/>
          <a:stretch>
            <a:fillRect/>
          </a:stretch>
        </p:blipFill>
        <p:spPr>
          <a:xfrm>
            <a:off x="6562726" y="4829933"/>
            <a:ext cx="4129155" cy="6183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406477-7850-77F2-B0AF-A6E4B92DC9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5" y="2481187"/>
            <a:ext cx="4129156" cy="2269767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6F4C0FB-77F2-B8B7-FE20-17ABB1316762}"/>
              </a:ext>
            </a:extLst>
          </p:cNvPr>
          <p:cNvSpPr/>
          <p:nvPr/>
        </p:nvSpPr>
        <p:spPr>
          <a:xfrm>
            <a:off x="1097279" y="5527279"/>
            <a:ext cx="9594601" cy="7249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XGBoost</a:t>
            </a:r>
            <a:r>
              <a:rPr lang="en-IN" dirty="0">
                <a:solidFill>
                  <a:schemeClr val="tx1"/>
                </a:solidFill>
              </a:rPr>
              <a:t> achieved the highest validation PR-AUC with strong recall and controlled generalization</a:t>
            </a:r>
            <a:endParaRPr lang="en-I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452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922BD-F8DA-F3C1-6E75-16EF830E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A919-0343-4EB1-FCC6-7BEC1E41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From Model Performance to Practical Deployment Impact</a:t>
            </a:r>
            <a:endParaRPr lang="en-IN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92EB4-B2D4-8025-D00B-F29519569D7E}"/>
              </a:ext>
            </a:extLst>
          </p:cNvPr>
          <p:cNvSpPr/>
          <p:nvPr/>
        </p:nvSpPr>
        <p:spPr>
          <a:xfrm>
            <a:off x="1097280" y="2050473"/>
            <a:ext cx="3216102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Impact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EDDB27-60F3-0355-4867-8116D6757973}"/>
              </a:ext>
            </a:extLst>
          </p:cNvPr>
          <p:cNvSpPr/>
          <p:nvPr/>
        </p:nvSpPr>
        <p:spPr>
          <a:xfrm>
            <a:off x="1097280" y="2720110"/>
            <a:ext cx="3216102" cy="348672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EFE516-557A-5D20-DC15-A123EB4BB1C6}"/>
              </a:ext>
            </a:extLst>
          </p:cNvPr>
          <p:cNvSpPr/>
          <p:nvPr/>
        </p:nvSpPr>
        <p:spPr>
          <a:xfrm>
            <a:off x="4518429" y="2050473"/>
            <a:ext cx="3216102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Limitations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5D5362-2B6E-6B4E-7EDB-4BFC134D0165}"/>
              </a:ext>
            </a:extLst>
          </p:cNvPr>
          <p:cNvSpPr/>
          <p:nvPr/>
        </p:nvSpPr>
        <p:spPr>
          <a:xfrm>
            <a:off x="4518429" y="2720110"/>
            <a:ext cx="3216102" cy="348672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ED7AB9-48D2-E847-3C1A-0F45E40C09EF}"/>
              </a:ext>
            </a:extLst>
          </p:cNvPr>
          <p:cNvSpPr/>
          <p:nvPr/>
        </p:nvSpPr>
        <p:spPr>
          <a:xfrm>
            <a:off x="7939578" y="2050473"/>
            <a:ext cx="3216102" cy="572654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Next Steps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2E4A3-0AFC-2DD5-71EB-4E90D474C25D}"/>
              </a:ext>
            </a:extLst>
          </p:cNvPr>
          <p:cNvSpPr/>
          <p:nvPr/>
        </p:nvSpPr>
        <p:spPr>
          <a:xfrm>
            <a:off x="7939578" y="2720110"/>
            <a:ext cx="3216102" cy="3486726"/>
          </a:xfrm>
          <a:prstGeom prst="rect">
            <a:avLst/>
          </a:prstGeom>
          <a:noFill/>
          <a:ln>
            <a:solidFill>
              <a:srgbClr val="629D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8156028-E7CF-57FA-C633-794C2C73A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698" y="2838352"/>
            <a:ext cx="31052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ctr"/>
            <a:r>
              <a:rPr lang="en-IN" dirty="0"/>
              <a:t>The model enables: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Earlier fraud detection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Reduced financial exposure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Configurable thresholds aligned with business risk tolerance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545616FA-9AD5-C37C-4856-015B836DB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694" y="2838352"/>
            <a:ext cx="303876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Dependence on sampled data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Synthetic oversampling may not capture all real fraud patterns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Higher recall increases false positives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2823392A-7F4F-79F2-FEE2-7244F33B1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869" y="2838352"/>
            <a:ext cx="301752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Incorporate cost-sensitive learning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Build real-time scoring pipelines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IN" dirty="0"/>
              <a:t>Explore temporal and sequential modelling approaches</a:t>
            </a:r>
          </a:p>
        </p:txBody>
      </p:sp>
    </p:spTree>
    <p:extLst>
      <p:ext uri="{BB962C8B-B14F-4D97-AF65-F5344CB8AC3E}">
        <p14:creationId xmlns:p14="http://schemas.microsoft.com/office/powerpoint/2010/main" val="119700400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235</TotalTime>
  <Words>678</Words>
  <Application>Microsoft Office PowerPoint</Application>
  <PresentationFormat>Widescreen</PresentationFormat>
  <Paragraphs>161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PowerPoint Presentation</vt:lpstr>
      <vt:lpstr>Problem Context, Modeling Approach, and Final Outcome</vt:lpstr>
      <vt:lpstr>The Need for Scalable and Adaptive Fraud Detection</vt:lpstr>
      <vt:lpstr>Who This Solution Is Designed For?</vt:lpstr>
      <vt:lpstr>Problem Definition and Objective</vt:lpstr>
      <vt:lpstr>Data Overview and Core Challenges</vt:lpstr>
      <vt:lpstr> Data Quality and Preparation</vt:lpstr>
      <vt:lpstr>EDA Findings That Informed Modeling Decisions</vt:lpstr>
      <vt:lpstr> Feature Engineering Strategy</vt:lpstr>
      <vt:lpstr>Modelling Strategy and Evaluation Framework</vt:lpstr>
      <vt:lpstr>Model Comparison and Final Selection</vt:lpstr>
      <vt:lpstr>Results obtained from XG-Boost Model </vt:lpstr>
      <vt:lpstr>From Model Performance to Practical Deployment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Puja Patidar</dc:creator>
  <cp:lastModifiedBy>Puja Patidar</cp:lastModifiedBy>
  <cp:revision>14</cp:revision>
  <dcterms:created xsi:type="dcterms:W3CDTF">2026-01-12T22:24:19Z</dcterms:created>
  <dcterms:modified xsi:type="dcterms:W3CDTF">2026-01-13T02:19:36Z</dcterms:modified>
</cp:coreProperties>
</file>